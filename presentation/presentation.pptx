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6583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mbria"/>
              </a:rPr>
              <a:t>Carène de frégate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8346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CADCFC"/>
                </a:solidFill>
                <a:latin typeface="Calibri"/>
              </a:rPr>
              <a:t>Hydrostatique &amp; stabilité</a:t>
            </a:r>
          </a:p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CADCFC"/>
                </a:solidFill>
                <a:latin typeface="Calibri"/>
              </a:rPr>
              <a:t>Outil Python d'architecture navale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93776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Ayoub — Licence Physique CUPGE, UBS Lorient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44068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CADCFC"/>
                </a:solidFill>
                <a:latin typeface="Calibri"/>
              </a:rPr>
              <a:t>Projet personnel — candidature ENSTA / Naval 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371600"/>
            <a:ext cx="4160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_vu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148840"/>
            <a:ext cx="3794760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E2761"/>
                </a:solidFill>
                <a:latin typeface="Cambria"/>
              </a:rPr>
              <a:t>Objectif &amp; démarche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212934"/>
                </a:solidFill>
                <a:latin typeface="Calibri"/>
              </a:rPr>
              <a:t>Concevoir une carène de frégate et calculer sa flottabilité et sa stabilité par le code. Le projet fait converger trois compétences en un seul livrable.</a:t>
            </a:r>
          </a:p>
        </p:txBody>
      </p:sp>
      <p:sp>
        <p:nvSpPr>
          <p:cNvPr id="4" name="Oval 3"/>
          <p:cNvSpPr/>
          <p:nvPr/>
        </p:nvSpPr>
        <p:spPr>
          <a:xfrm>
            <a:off x="1737360" y="2834640"/>
            <a:ext cx="1005840" cy="10058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Physique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Archimède, moments,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métacentre, stabilité</a:t>
            </a:r>
          </a:p>
        </p:txBody>
      </p:sp>
      <p:sp>
        <p:nvSpPr>
          <p:cNvPr id="7" name="Oval 6"/>
          <p:cNvSpPr/>
          <p:nvPr/>
        </p:nvSpPr>
        <p:spPr>
          <a:xfrm>
            <a:off x="5394960" y="2834640"/>
            <a:ext cx="1005840" cy="100584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977639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Géométrie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57200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Carène paramétrique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générée par formule</a:t>
            </a:r>
          </a:p>
        </p:txBody>
      </p:sp>
      <p:sp>
        <p:nvSpPr>
          <p:cNvPr id="10" name="Oval 9"/>
          <p:cNvSpPr/>
          <p:nvPr/>
        </p:nvSpPr>
        <p:spPr>
          <a:xfrm>
            <a:off x="9052560" y="2834640"/>
            <a:ext cx="1005840" cy="1005840"/>
          </a:xfrm>
          <a:prstGeom prst="ellipse">
            <a:avLst/>
          </a:prstGeom>
          <a:solidFill>
            <a:srgbClr val="2A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977639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57200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Intégration de Simpson,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calcul numérique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E2761"/>
                </a:solidFill>
                <a:latin typeface="Cambria"/>
              </a:rPr>
              <a:t>La carène paramétrique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2A900"/>
                </a:solidFill>
                <a:latin typeface="Calibri"/>
              </a:rPr>
              <a:t>Une coque décrite par une formule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028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12934"/>
                </a:solidFill>
                <a:latin typeface="Courier New"/>
              </a:rPr>
              <a:t>b(x, z) = (B/2) · P(x) · V(z)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108960"/>
            <a:ext cx="56692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934"/>
                </a:solidFill>
                <a:latin typeface="Calibri"/>
              </a:rPr>
              <a:t>P(x) : affinement de l'avant vers l'arrière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934"/>
                </a:solidFill>
                <a:latin typeface="Calibri"/>
              </a:rPr>
              <a:t>V(z) : forme en U de la quille au pont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9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934"/>
                </a:solidFill>
                <a:latin typeface="Calibri"/>
              </a:rPr>
              <a:t>Quelques paramètres suffisent :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934"/>
                </a:solidFill>
                <a:latin typeface="Calibri"/>
              </a:rPr>
              <a:t>L = 100 m   B = 14 m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934"/>
                </a:solidFill>
                <a:latin typeface="Calibri"/>
              </a:rPr>
              <a:t>T = 4.5 m   D = 9 m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9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934"/>
                </a:solidFill>
                <a:latin typeface="Calibri"/>
              </a:rPr>
              <a:t>Changer un paramètre régénère toute la coque.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554480"/>
            <a:ext cx="5029200" cy="47548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_plan_des_for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828800"/>
            <a:ext cx="4297680" cy="3683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E2761"/>
                </a:solidFill>
                <a:latin typeface="Cambria"/>
              </a:rPr>
              <a:t>Méthode de calcul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2A900"/>
                </a:solidFill>
                <a:latin typeface="Calibri"/>
              </a:rPr>
              <a:t>L'intégration de Simpson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94560"/>
            <a:ext cx="54864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934"/>
                </a:solidFill>
                <a:latin typeface="Calibri"/>
              </a:rPr>
              <a:t>On calcule volumes et aires en intégrant la géométrie le long de la coque.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9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934"/>
                </a:solidFill>
                <a:latin typeface="Calibri"/>
              </a:rPr>
              <a:t>La méthode de Simpson approche la courbe par des paraboles : c'est la méthode historique des architectes navals, codée à la main ici.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93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934"/>
                </a:solidFill>
                <a:latin typeface="Calibri"/>
              </a:rPr>
              <a:t>La courbe des aires de section A(x) (ci-contre) est la première brique : son intégrale donne le volume immergé, donc le déplacement.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828800"/>
            <a:ext cx="5212080" cy="33832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_courbe_des_a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40280"/>
            <a:ext cx="4572000" cy="26125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Résultats hydrostatiques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CADCFC"/>
                </a:solidFill>
                <a:latin typeface="Calibri"/>
              </a:rPr>
              <a:t>Navire droit, au tirant d'eau de projet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331720"/>
            <a:ext cx="5212080" cy="1783080"/>
          </a:xfrm>
          <a:prstGeom prst="roundRect">
            <a:avLst/>
          </a:prstGeom>
          <a:solidFill>
            <a:srgbClr val="2A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560320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A900"/>
                </a:solidFill>
                <a:latin typeface="Cambria"/>
              </a:rPr>
              <a:t>2 870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47472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Déplacement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331720"/>
            <a:ext cx="5212080" cy="1783080"/>
          </a:xfrm>
          <a:prstGeom prst="roundRect">
            <a:avLst/>
          </a:prstGeom>
          <a:solidFill>
            <a:srgbClr val="2A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2560320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A900"/>
                </a:solidFill>
                <a:latin typeface="Cambria"/>
              </a:rPr>
              <a:t>0.444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347472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Coefficient de bloc Cb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80560"/>
            <a:ext cx="5212080" cy="1783080"/>
          </a:xfrm>
          <a:prstGeom prst="roundRect">
            <a:avLst/>
          </a:prstGeom>
          <a:solidFill>
            <a:srgbClr val="2A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709160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A900"/>
                </a:solidFill>
                <a:latin typeface="Cambria"/>
              </a:rPr>
              <a:t>1.15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62356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Hauteur métacentrique GMt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480560"/>
            <a:ext cx="5212080" cy="1783080"/>
          </a:xfrm>
          <a:prstGeom prst="roundRect">
            <a:avLst/>
          </a:prstGeom>
          <a:solidFill>
            <a:srgbClr val="2A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4709160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A900"/>
                </a:solidFill>
                <a:latin typeface="Cambria"/>
              </a:rPr>
              <a:t>6.55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562356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Métacentre KMt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E2761"/>
                </a:solidFill>
                <a:latin typeface="Cambria"/>
              </a:rPr>
              <a:t>Stabilité : la courbe GZ</a:t>
            </a:r>
          </a:p>
        </p:txBody>
      </p:sp>
      <p:pic>
        <p:nvPicPr>
          <p:cNvPr id="3" name="Picture 2" descr="4_courbe_g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00200"/>
            <a:ext cx="576072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828800"/>
            <a:ext cx="4754880" cy="10972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9339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B7280"/>
                </a:solidFill>
                <a:latin typeface="Calibri"/>
              </a:rPr>
              <a:t>GZ 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E2761"/>
                </a:solidFill>
                <a:latin typeface="Cambria"/>
              </a:rPr>
              <a:t>0.59 m à 45°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4754880" cy="10972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6499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B7280"/>
                </a:solidFill>
                <a:latin typeface="Calibri"/>
              </a:rPr>
              <a:t>Limite de stabilité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E2761"/>
                </a:solidFill>
                <a:latin typeface="Cambria"/>
              </a:rPr>
              <a:t>83°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4754880" cy="10972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3659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B7280"/>
                </a:solidFill>
                <a:latin typeface="Calibri"/>
              </a:rPr>
              <a:t>GM (pente initiale)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7492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E2761"/>
                </a:solidFill>
                <a:latin typeface="Cambria"/>
              </a:rPr>
              <a:t>1.13 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E2761"/>
                </a:solidFill>
                <a:latin typeface="Cambria"/>
              </a:rPr>
              <a:t>Validation du calcul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630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212934"/>
                </a:solidFill>
                <a:latin typeface="Calibri"/>
              </a:rPr>
              <a:t>Le GM est calculé de deux façons indépendantes. Elles concordent : le résultat est fiable.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4572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315468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1E2761"/>
                </a:solidFill>
                <a:latin typeface="Cambria"/>
              </a:rPr>
              <a:t>1.146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6052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12934"/>
                </a:solidFill>
                <a:latin typeface="Calibri"/>
              </a:rPr>
              <a:t>GM par l'hydrostatique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743200"/>
            <a:ext cx="4572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315468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2A900"/>
                </a:solidFill>
                <a:latin typeface="Cambria"/>
              </a:rPr>
              <a:t>1.131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16052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12934"/>
                </a:solidFill>
                <a:latin typeface="Calibri"/>
              </a:rPr>
              <a:t>GM par la pente de la courbe GZ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6B7280"/>
                </a:solidFill>
                <a:latin typeface="Calibri"/>
              </a:rPr>
              <a:t>Écart inférieur à 1.5 %. La formule des murailles droites confirme aussi la courbe aux petits angles.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E2761"/>
                </a:solidFill>
                <a:latin typeface="Cambria"/>
              </a:rPr>
              <a:t>Exports vers la 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630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12934"/>
                </a:solidFill>
                <a:latin typeface="Calibri"/>
              </a:rPr>
              <a:t>La géométrie est exportée pour être finalisée dans Fusion 360.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3383280" cy="25603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STL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 i="0">
                <a:solidFill>
                  <a:srgbClr val="212934"/>
                </a:solidFill>
                <a:latin typeface="Calibri"/>
              </a:rPr>
              <a:t>Maillage 3D de la coque</a:t>
            </a:r>
          </a:p>
          <a:p>
            <a:pPr algn="ctr">
              <a:lnSpc>
                <a:spcPct val="110000"/>
              </a:lnSpc>
            </a:pPr>
            <a:r>
              <a:rPr sz="1500" b="0" i="0">
                <a:solidFill>
                  <a:srgbClr val="212934"/>
                </a:solidFill>
                <a:latin typeface="Calibri"/>
              </a:rPr>
              <a:t>→ Insertion &gt; Maillage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560320"/>
            <a:ext cx="3383280" cy="25603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8346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DXF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749039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 i="0">
                <a:solidFill>
                  <a:srgbClr val="212934"/>
                </a:solidFill>
                <a:latin typeface="Calibri"/>
              </a:rPr>
              <a:t>Sections (couples)</a:t>
            </a:r>
          </a:p>
          <a:p>
            <a:pPr algn="ctr">
              <a:lnSpc>
                <a:spcPct val="110000"/>
              </a:lnSpc>
            </a:pPr>
            <a:r>
              <a:rPr sz="1500" b="0" i="0">
                <a:solidFill>
                  <a:srgbClr val="212934"/>
                </a:solidFill>
                <a:latin typeface="Calibri"/>
              </a:rPr>
              <a:t>→ à lisser par loft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560320"/>
            <a:ext cx="3383280" cy="25603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8346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749039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 i="0">
                <a:solidFill>
                  <a:srgbClr val="212934"/>
                </a:solidFill>
                <a:latin typeface="Calibri"/>
              </a:rPr>
              <a:t>Table des cotes</a:t>
            </a:r>
          </a:p>
          <a:p>
            <a:pPr algn="ctr">
              <a:lnSpc>
                <a:spcPct val="110000"/>
              </a:lnSpc>
            </a:pPr>
            <a:r>
              <a:rPr sz="1500" b="0" i="0">
                <a:solidFill>
                  <a:srgbClr val="212934"/>
                </a:solidFill>
                <a:latin typeface="Calibri"/>
              </a:rPr>
              <a:t>(demi-largeurs)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6B7280"/>
                </a:solidFill>
                <a:latin typeface="Calibri"/>
              </a:rPr>
              <a:t>Tout est régénérable par une seule commande : python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Bilan &amp;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011680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ADCFC"/>
                </a:solidFill>
                <a:latin typeface="Calibri"/>
              </a:rPr>
              <a:t>Un outil complet : géométrie paramétrique, hydrostatique, stabilité GZ, exports CAO. Calcul validé et entièrement reproductible.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6576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2A900"/>
                </a:solidFill>
                <a:latin typeface="Cambria"/>
              </a:rPr>
              <a:t>Phase 2 (2027)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43400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Évasement de coque et formes plus réalistes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Couplage gîte / assiette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Résistance à l'avancement et puissance moteur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Étude d'un navire de soutien offshore (OSV)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